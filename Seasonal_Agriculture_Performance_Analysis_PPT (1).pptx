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62830-3D34-42E3-9A9E-723129F62480}" v="25" dt="2026-09-09T16:24:31.83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rudha Prabhu" userId="b65f1b90c0ca0b2f" providerId="LiveId" clId="{C5723458-ED72-4ABB-B50C-5289D3EB44D0}"/>
    <pc:docChg chg="custSel modSld">
      <pc:chgData name="Anirudha Prabhu" userId="b65f1b90c0ca0b2f" providerId="LiveId" clId="{C5723458-ED72-4ABB-B50C-5289D3EB44D0}" dt="2026-09-09T16:24:31.839" v="143" actId="20577"/>
      <pc:docMkLst>
        <pc:docMk/>
      </pc:docMkLst>
      <pc:sldChg chg="modSp mod">
        <pc:chgData name="Anirudha Prabhu" userId="b65f1b90c0ca0b2f" providerId="LiveId" clId="{C5723458-ED72-4ABB-B50C-5289D3EB44D0}" dt="2026-09-09T15:30:21.795" v="53" actId="27636"/>
        <pc:sldMkLst>
          <pc:docMk/>
          <pc:sldMk cId="3401748718" sldId="304"/>
        </pc:sldMkLst>
        <pc:spChg chg="mod">
          <ac:chgData name="Anirudha Prabhu" userId="b65f1b90c0ca0b2f" providerId="LiveId" clId="{C5723458-ED72-4ABB-B50C-5289D3EB44D0}" dt="2026-09-09T15:30:21.795" v="53" actId="27636"/>
          <ac:spMkLst>
            <pc:docMk/>
            <pc:sldMk cId="3401748718" sldId="304"/>
            <ac:spMk id="3" creationId="{D88C20CF-C1EE-4092-B52D-FD4AB2AB2508}"/>
          </ac:spMkLst>
        </pc:spChg>
      </pc:sldChg>
      <pc:sldChg chg="modSp mod">
        <pc:chgData name="Anirudha Prabhu" userId="b65f1b90c0ca0b2f" providerId="LiveId" clId="{C5723458-ED72-4ABB-B50C-5289D3EB44D0}" dt="2026-09-09T15:27:54.071" v="1" actId="27636"/>
        <pc:sldMkLst>
          <pc:docMk/>
          <pc:sldMk cId="3696770303" sldId="315"/>
        </pc:sldMkLst>
        <pc:spChg chg="mod">
          <ac:chgData name="Anirudha Prabhu" userId="b65f1b90c0ca0b2f" providerId="LiveId" clId="{C5723458-ED72-4ABB-B50C-5289D3EB44D0}" dt="2026-09-09T15:27:54.071" v="1" actId="27636"/>
          <ac:spMkLst>
            <pc:docMk/>
            <pc:sldMk cId="3696770303" sldId="315"/>
            <ac:spMk id="3" creationId="{EBF2FBC7-3552-4F01-BB27-8BEEE74F7277}"/>
          </ac:spMkLst>
        </pc:spChg>
      </pc:sldChg>
      <pc:sldChg chg="modSp">
        <pc:chgData name="Anirudha Prabhu" userId="b65f1b90c0ca0b2f" providerId="LiveId" clId="{C5723458-ED72-4ABB-B50C-5289D3EB44D0}" dt="2026-09-09T16:24:31.839" v="143" actId="20577"/>
        <pc:sldMkLst>
          <pc:docMk/>
          <pc:sldMk cId="3098548442" sldId="327"/>
        </pc:sldMkLst>
        <pc:spChg chg="mod">
          <ac:chgData name="Anirudha Prabhu" userId="b65f1b90c0ca0b2f" providerId="LiveId" clId="{C5723458-ED72-4ABB-B50C-5289D3EB44D0}" dt="2026-09-09T16:24:31.839" v="143" actId="20577"/>
          <ac:spMkLst>
            <pc:docMk/>
            <pc:sldMk cId="3098548442" sldId="327"/>
            <ac:spMk id="2" creationId="{E46E4DD1-270B-4C80-AFF0-EB26F132AF36}"/>
          </ac:spMkLst>
        </pc:spChg>
      </pc:sldChg>
      <pc:sldChg chg="modSp mod">
        <pc:chgData name="Anirudha Prabhu" userId="b65f1b90c0ca0b2f" providerId="LiveId" clId="{C5723458-ED72-4ABB-B50C-5289D3EB44D0}" dt="2026-09-09T16:06:33.601" v="63" actId="1076"/>
        <pc:sldMkLst>
          <pc:docMk/>
          <pc:sldMk cId="1604013440" sldId="338"/>
        </pc:sldMkLst>
        <pc:spChg chg="mod">
          <ac:chgData name="Anirudha Prabhu" userId="b65f1b90c0ca0b2f" providerId="LiveId" clId="{C5723458-ED72-4ABB-B50C-5289D3EB44D0}" dt="2026-09-09T15:27:58.501" v="18" actId="20577"/>
          <ac:spMkLst>
            <pc:docMk/>
            <pc:sldMk cId="1604013440" sldId="338"/>
            <ac:spMk id="2" creationId="{7201737A-B873-4D1D-8A41-5ABF5184BC8F}"/>
          </ac:spMkLst>
        </pc:spChg>
        <pc:spChg chg="mod">
          <ac:chgData name="Anirudha Prabhu" userId="b65f1b90c0ca0b2f" providerId="LiveId" clId="{C5723458-ED72-4ABB-B50C-5289D3EB44D0}" dt="2026-09-09T15:28:33.440" v="51" actId="14100"/>
          <ac:spMkLst>
            <pc:docMk/>
            <pc:sldMk cId="1604013440" sldId="338"/>
            <ac:spMk id="3" creationId="{17F04107-8754-E47D-3375-529E689711FA}"/>
          </ac:spMkLst>
        </pc:spChg>
        <pc:spChg chg="mod">
          <ac:chgData name="Anirudha Prabhu" userId="b65f1b90c0ca0b2f" providerId="LiveId" clId="{C5723458-ED72-4ABB-B50C-5289D3EB44D0}" dt="2026-09-09T16:06:33.601" v="63" actId="1076"/>
          <ac:spMkLst>
            <pc:docMk/>
            <pc:sldMk cId="1604013440" sldId="338"/>
            <ac:spMk id="4" creationId="{92056599-CDAA-4367-BEF8-31D6E32518C8}"/>
          </ac:spMkLst>
        </pc:spChg>
      </pc:sldChg>
      <pc:sldChg chg="modSp mod">
        <pc:chgData name="Anirudha Prabhu" userId="b65f1b90c0ca0b2f" providerId="LiveId" clId="{C5723458-ED72-4ABB-B50C-5289D3EB44D0}" dt="2026-09-09T16:24:16.698" v="142" actId="20577"/>
        <pc:sldMkLst>
          <pc:docMk/>
          <pc:sldMk cId="3863610428" sldId="342"/>
        </pc:sldMkLst>
        <pc:spChg chg="mod">
          <ac:chgData name="Anirudha Prabhu" userId="b65f1b90c0ca0b2f" providerId="LiveId" clId="{C5723458-ED72-4ABB-B50C-5289D3EB44D0}" dt="2026-09-09T16:24:16.698" v="142" actId="20577"/>
          <ac:spMkLst>
            <pc:docMk/>
            <pc:sldMk cId="3863610428" sldId="342"/>
            <ac:spMk id="3" creationId="{5F0B37E4-66B1-8633-7266-68B321742757}"/>
          </ac:spMkLst>
        </pc:spChg>
      </pc:sldChg>
      <pc:sldChg chg="addSp modSp mod">
        <pc:chgData name="Anirudha Prabhu" userId="b65f1b90c0ca0b2f" providerId="LiveId" clId="{C5723458-ED72-4ABB-B50C-5289D3EB44D0}" dt="2026-09-09T15:36:30.924" v="58" actId="14100"/>
        <pc:sldMkLst>
          <pc:docMk/>
          <pc:sldMk cId="3962802212" sldId="343"/>
        </pc:sldMkLst>
        <pc:graphicFrameChg chg="add mod">
          <ac:chgData name="Anirudha Prabhu" userId="b65f1b90c0ca0b2f" providerId="LiveId" clId="{C5723458-ED72-4ABB-B50C-5289D3EB44D0}" dt="2026-09-09T15:36:30.924" v="58" actId="14100"/>
          <ac:graphicFrameMkLst>
            <pc:docMk/>
            <pc:sldMk cId="3962802212" sldId="343"/>
            <ac:graphicFrameMk id="2" creationId="{ACC21CB9-6301-566C-3170-F663A229502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60399" y="3800000"/>
            <a:ext cx="5000000" cy="861497"/>
          </a:xfrm>
        </p:spPr>
        <p:txBody>
          <a:bodyPr vert="horz" lIns="91440" tIns="45720" rIns="91440" bIns="45720" rtlCol="0" anchor="t">
            <a:normAutofit/>
          </a:bodyPr>
          <a:lstStyle/>
          <a:p>
            <a:pPr algn="l"/>
            <a:r>
              <a:rPr lang="en-US" b="0" dirty="0">
                <a:solidFill>
                  <a:schemeClr val="tx1"/>
                </a:solidFill>
              </a:rPr>
              <a:t>Shamika Anirudha Prabhu</a:t>
            </a:r>
            <a:endParaRPr lang="en-IN" b="0" dirty="0">
              <a:solidFill>
                <a:schemeClr val="tx1"/>
              </a:solidFill>
            </a:endParaRPr>
          </a:p>
          <a:p>
            <a:pPr algn="l"/>
            <a:r>
              <a:rPr lang="en-US" b="0" dirty="0">
                <a:solidFill>
                  <a:schemeClr val="tx1"/>
                </a:solidFill>
              </a:rPr>
              <a:t>Viva Institute of Technology, Virar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60399" y="2339759"/>
            <a:ext cx="4998720" cy="1089241"/>
          </a:xfrm>
        </p:spPr>
        <p:txBody>
          <a:bodyPr>
            <a:normAutofit/>
          </a:bodyPr>
          <a:lstStyle/>
          <a:p>
            <a:r>
              <a:rPr lang="en-GB" sz="26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60399" y="4700000"/>
            <a:ext cx="3920932" cy="646331"/>
          </a:xfrm>
          <a:prstGeom prst="rect">
            <a:avLst/>
          </a:prstGeom>
          <a:noFill/>
        </p:spPr>
        <p:txBody>
          <a:bodyPr wrap="square" rtlCol="0">
            <a:spAutoFit/>
          </a:bodyPr>
          <a:lstStyle/>
          <a:p>
            <a:r>
              <a:rPr lang="en-US" b="1" dirty="0"/>
              <a:t>AICTE STU ID : STU6a57955741deb1784124759</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60399" y="1991360"/>
            <a:ext cx="10046070" cy="3990023"/>
          </a:xfrm>
          <a:prstGeom prst="rect">
            <a:avLst/>
          </a:prstGeom>
          <a:noFill/>
        </p:spPr>
        <p:txBody>
          <a:bodyPr wrap="square">
            <a:spAutoFit/>
          </a:bodyPr>
          <a:lstStyle/>
          <a:p>
            <a:r>
              <a:rPr sz="1800"/>
              <a:t>This project analyzes 4,000 farm-level records spanning the Kharif, Rabi and Zaid seasons across 8 Indian states to understand how agricultural performance changes with the season.</a:t>
            </a:r>
          </a:p>
          <a:p>
            <a:r>
              <a:rPr sz="1800"/>
              <a:t>Using Python, the dataset is cleaned (season-and-crop-aware median imputation for missing values), explored through univariate, bivariate and multivariate visualizations, and tested statistically with ANOVA and Tukey's HSD to confirm which seasonal differences are real rather than visual noise.</a:t>
            </a:r>
          </a:p>
          <a:p>
            <a:r>
              <a:rPr sz="1800"/>
              <a:t>The result is a set of evidence-based insights and recommendations for seasonal agricultural planning - covering yield, profitability, resource use, and disease/pest risk.</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r>
              <a:rPr sz="1800"/>
              <a:t>Agricultural policy planners deciding seasonal support programs</a:t>
            </a:r>
          </a:p>
          <a:p>
            <a:r>
              <a:rPr sz="1800"/>
              <a:t>State agriculture departments issuing crop and disease advisories</a:t>
            </a:r>
          </a:p>
          <a:p>
            <a:r>
              <a:rPr sz="1800"/>
              <a:t>Farmer-facing organizations and cooperatives advising on irrigation and crop choice</a:t>
            </a:r>
          </a:p>
          <a:p>
            <a:r>
              <a:rPr sz="1800"/>
              <a:t>Agri-fintech / insurance providers assessing seasonal risk</a:t>
            </a:r>
          </a:p>
          <a:p>
            <a:r>
              <a:rPr sz="1800"/>
              <a:t>Researchers and students studying seasonal agricultural patterns in India</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100000" y="1432560"/>
            <a:ext cx="7318320" cy="5243448"/>
          </a:xfrm>
        </p:spPr>
        <p:txBody>
          <a:bodyPr wrap="square"/>
          <a:lstStyle/>
          <a:p>
            <a:r>
              <a:rPr sz="1800" b="1"/>
              <a:t>Python</a:t>
            </a:r>
          </a:p>
          <a:p>
            <a:r>
              <a:rPr sz="1800"/>
              <a:t>Pandas &amp; NumPy - data cleaning, aggregation, feature engineering</a:t>
            </a:r>
          </a:p>
          <a:p>
            <a:r>
              <a:rPr sz="1800"/>
              <a:t>Matplotlib &amp; Seaborn - univariate, bivariate &amp; multivariate visualization</a:t>
            </a:r>
          </a:p>
          <a:p>
            <a:r>
              <a:rPr sz="1800"/>
              <a:t>SciPy - one-way ANOVA significance testing</a:t>
            </a:r>
          </a:p>
          <a:p>
            <a:r>
              <a:rPr sz="1800"/>
              <a:t>Statsmodels - Tukey HSD post-hoc testing</a:t>
            </a:r>
          </a:p>
          <a:p>
            <a:r>
              <a:rPr sz="1800"/>
              <a:t>Jupyter Notebook - documented, reproducible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60400" y="2044700"/>
            <a:ext cx="4275138" cy="3560763"/>
          </a:xfrm>
        </p:spPr>
        <p:txBody>
          <a:bodyPr wrap="square">
            <a:normAutofit/>
          </a:bodyPr>
          <a:lstStyle/>
          <a:p>
            <a:r>
              <a:rPr sz="1500" b="1"/>
              <a:t>Dataset Overview</a:t>
            </a:r>
          </a:p>
          <a:p>
            <a:r>
              <a:rPr sz="1500"/>
              <a:t>4,000 records across 3 seasons</a:t>
            </a:r>
          </a:p>
          <a:p>
            <a:r>
              <a:rPr sz="1500"/>
              <a:t>Kharif 44.5% | Rabi 40.7% | Zaid 14.8%</a:t>
            </a:r>
          </a:p>
          <a:p>
            <a:r>
              <a:rPr sz="1500"/>
              <a:t>Balanced enough for fair seasonal comparison</a:t>
            </a:r>
          </a:p>
        </p:txBody>
      </p:sp>
      <p:pic>
        <p:nvPicPr>
          <p:cNvPr id="24" name="Picture 23" descr="02_cell31.png"/>
          <p:cNvPicPr>
            <a:picLocks noChangeAspect="1"/>
          </p:cNvPicPr>
          <p:nvPr/>
        </p:nvPicPr>
        <p:blipFill>
          <a:blip r:embed="rId3"/>
          <a:stretch>
            <a:fillRect/>
          </a:stretch>
        </p:blipFill>
        <p:spPr>
          <a:xfrm>
            <a:off x="7090227" y="802992"/>
            <a:ext cx="4441372" cy="455045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60400" y="2044700"/>
            <a:ext cx="4275138" cy="3560763"/>
          </a:xfrm>
        </p:spPr>
        <p:txBody>
          <a:bodyPr wrap="square"/>
          <a:lstStyle/>
          <a:p>
            <a:r>
              <a:rPr sz="1500" b="1"/>
              <a:t>Environmental Seasonality</a:t>
            </a:r>
          </a:p>
          <a:p>
            <a:r>
              <a:rPr sz="1500"/>
              <a:t>Temperature, rainfall &amp; humidity visibly separate by season</a:t>
            </a:r>
          </a:p>
          <a:p>
            <a:r>
              <a:rPr sz="1500"/>
              <a:t>Confirms seasons are environmentally distinct in this data</a:t>
            </a:r>
          </a:p>
          <a:p>
            <a:r>
              <a:rPr sz="1500"/>
              <a:t>Yield &amp; profit overlap heavily across seasons (see next slide)</a:t>
            </a:r>
          </a:p>
        </p:txBody>
      </p:sp>
      <p:pic>
        <p:nvPicPr>
          <p:cNvPr id="31" name="Picture 30" descr="12_cell43.png"/>
          <p:cNvPicPr>
            <a:picLocks noChangeAspect="1"/>
          </p:cNvPicPr>
          <p:nvPr/>
        </p:nvPicPr>
        <p:blipFill>
          <a:blip r:embed="rId3"/>
          <a:stretch>
            <a:fillRect/>
          </a:stretch>
        </p:blipFill>
        <p:spPr>
          <a:xfrm>
            <a:off x="7090227" y="966912"/>
            <a:ext cx="4441372" cy="422261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60400" y="2044700"/>
            <a:ext cx="4275138" cy="3560763"/>
          </a:xfrm>
        </p:spPr>
        <p:txBody>
          <a:bodyPr wrap="square"/>
          <a:lstStyle/>
          <a:p>
            <a:r>
              <a:rPr sz="1500" b="1"/>
              <a:t>Yield by Season</a:t>
            </a:r>
          </a:p>
          <a:p>
            <a:r>
              <a:rPr sz="1500"/>
              <a:t>Kharif highest avg yield, Zaid lowest - but ANOVA p = 0.23</a:t>
            </a:r>
          </a:p>
          <a:p>
            <a:r>
              <a:rPr sz="1500"/>
              <a:t>NOT statistically significant</a:t>
            </a:r>
          </a:p>
          <a:p>
            <a:r>
              <a:rPr sz="1500"/>
              <a:t>Within-season variability outweighs the season-to-season gap</a:t>
            </a:r>
          </a:p>
        </p:txBody>
      </p:sp>
      <p:pic>
        <p:nvPicPr>
          <p:cNvPr id="31" name="Picture 30" descr="06_cell36.png"/>
          <p:cNvPicPr>
            <a:picLocks noChangeAspect="1"/>
          </p:cNvPicPr>
          <p:nvPr/>
        </p:nvPicPr>
        <p:blipFill>
          <a:blip r:embed="rId3"/>
          <a:stretch>
            <a:fillRect/>
          </a:stretch>
        </p:blipFill>
        <p:spPr>
          <a:xfrm>
            <a:off x="7090227" y="1707287"/>
            <a:ext cx="4441372" cy="274186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60400" y="2044700"/>
            <a:ext cx="4275138" cy="3560763"/>
          </a:xfrm>
        </p:spPr>
        <p:txBody>
          <a:bodyPr wrap="square"/>
          <a:lstStyle/>
          <a:p>
            <a:r>
              <a:rPr sz="1500" b="1"/>
              <a:t>Profit by Season</a:t>
            </a:r>
          </a:p>
          <a:p>
            <a:r>
              <a:rPr sz="1500"/>
              <a:t>ANOVA p &lt; 0.001 - statistically significant</a:t>
            </a:r>
          </a:p>
          <a:p>
            <a:r>
              <a:rPr sz="1500"/>
              <a:t>Tukey HSD: every season pair differs significantly</a:t>
            </a:r>
          </a:p>
          <a:p>
            <a:r>
              <a:rPr sz="1500"/>
              <a:t>Zaid runs at an average LOSS despite similar yield -&gt; a price/cost effect</a:t>
            </a:r>
          </a:p>
        </p:txBody>
      </p:sp>
      <p:pic>
        <p:nvPicPr>
          <p:cNvPr id="31" name="Picture 30" descr="09_cell39.png"/>
          <p:cNvPicPr>
            <a:picLocks noChangeAspect="1"/>
          </p:cNvPicPr>
          <p:nvPr/>
        </p:nvPicPr>
        <p:blipFill>
          <a:blip r:embed="rId3"/>
          <a:stretch>
            <a:fillRect/>
          </a:stretch>
        </p:blipFill>
        <p:spPr>
          <a:xfrm>
            <a:off x="7090227" y="1707287"/>
            <a:ext cx="4441372" cy="274186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60400" y="2044700"/>
            <a:ext cx="4275138" cy="3560763"/>
          </a:xfrm>
        </p:spPr>
        <p:txBody>
          <a:bodyPr wrap="square"/>
          <a:lstStyle/>
          <a:p>
            <a:r>
              <a:rPr sz="1500" b="1"/>
              <a:t>Correlation Analysis</a:t>
            </a:r>
          </a:p>
          <a:p>
            <a:r>
              <a:rPr sz="1500"/>
              <a:t>Profit correlates more with Yield (r=0.49) than any single weather variable</a:t>
            </a:r>
          </a:p>
          <a:p>
            <a:r>
              <a:rPr sz="1500"/>
              <a:t>Disease/Pest risk correlates strongly with Rainfall (r=0.62) &amp; Humidity (r=0.55)</a:t>
            </a:r>
          </a:p>
          <a:p>
            <a:r>
              <a:rPr sz="1500"/>
              <a:t>Fertilizer/Pesticide show negligible correlation with yield in this data</a:t>
            </a:r>
          </a:p>
        </p:txBody>
      </p:sp>
      <p:pic>
        <p:nvPicPr>
          <p:cNvPr id="31" name="Picture 30" descr="13_cell46.png"/>
          <p:cNvPicPr>
            <a:picLocks noChangeAspect="1"/>
          </p:cNvPicPr>
          <p:nvPr/>
        </p:nvPicPr>
        <p:blipFill>
          <a:blip r:embed="rId3"/>
          <a:stretch>
            <a:fillRect/>
          </a:stretch>
        </p:blipFill>
        <p:spPr>
          <a:xfrm>
            <a:off x="7090227" y="1137835"/>
            <a:ext cx="4441372" cy="388077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60400" y="2044700"/>
            <a:ext cx="4275138" cy="3560763"/>
          </a:xfrm>
        </p:spPr>
        <p:txBody>
          <a:bodyPr wrap="square"/>
          <a:lstStyle/>
          <a:p>
            <a:r>
              <a:rPr sz="1500" b="1"/>
              <a:t>Yield Trend Across Seasons</a:t>
            </a:r>
          </a:p>
          <a:p>
            <a:r>
              <a:rPr sz="1500"/>
              <a:t>Point plot with +/-1 SD error bars for average yield per season</a:t>
            </a:r>
          </a:p>
          <a:p>
            <a:r>
              <a:rPr sz="1500"/>
              <a:t>Kharif, Rabi and Zaid means sit close together and the error bars overlap heavily</a:t>
            </a:r>
          </a:p>
          <a:p>
            <a:r>
              <a:rPr sz="1500"/>
              <a:t>Visually confirms the ANOVA result: yield is not significantly season-dependent</a:t>
            </a:r>
          </a:p>
        </p:txBody>
      </p:sp>
      <p:pic>
        <p:nvPicPr>
          <p:cNvPr id="31" name="Picture 30" descr="10_cell40.png"/>
          <p:cNvPicPr>
            <a:picLocks noChangeAspect="1"/>
          </p:cNvPicPr>
          <p:nvPr/>
        </p:nvPicPr>
        <p:blipFill>
          <a:blip r:embed="rId3"/>
          <a:stretch>
            <a:fillRect/>
          </a:stretch>
        </p:blipFill>
        <p:spPr>
          <a:xfrm>
            <a:off x="7090227" y="1707287"/>
            <a:ext cx="4441372" cy="274186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60400" y="2044700"/>
            <a:ext cx="4275138" cy="3560763"/>
          </a:xfrm>
        </p:spPr>
        <p:txBody>
          <a:bodyPr wrap="square"/>
          <a:lstStyle/>
          <a:p>
            <a:r>
              <a:rPr sz="1500" b="1"/>
              <a:t>Profit Distribution Shape</a:t>
            </a:r>
          </a:p>
          <a:p>
            <a:r>
              <a:rPr sz="1500"/>
              <a:t>Violin plot shows the full shape of profit, not just the season average</a:t>
            </a:r>
          </a:p>
          <a:p>
            <a:r>
              <a:rPr sz="1500"/>
              <a:t>Zaid's distribution sits lowest and dips below zero, matching its average loss</a:t>
            </a:r>
          </a:p>
          <a:p>
            <a:r>
              <a:rPr sz="1500"/>
              <a:t>Kharif and Rabi show wider, higher-value spreads with longer tails</a:t>
            </a:r>
          </a:p>
        </p:txBody>
      </p:sp>
      <p:pic>
        <p:nvPicPr>
          <p:cNvPr id="31" name="Picture 30" descr="11_cell37.png"/>
          <p:cNvPicPr>
            <a:picLocks noChangeAspect="1"/>
          </p:cNvPicPr>
          <p:nvPr/>
        </p:nvPicPr>
        <p:blipFill>
          <a:blip r:embed="rId3"/>
          <a:stretch>
            <a:fillRect/>
          </a:stretch>
        </p:blipFill>
        <p:spPr>
          <a:xfrm>
            <a:off x="7090227" y="1707287"/>
            <a:ext cx="4441372" cy="274186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60400" y="2044700"/>
            <a:ext cx="4275138" cy="3560763"/>
          </a:xfrm>
        </p:spPr>
        <p:txBody>
          <a:bodyPr wrap="square"/>
          <a:lstStyle/>
          <a:p>
            <a:r>
              <a:rPr sz="1500" b="1"/>
              <a:t>Water Efficiency by Irrigation Method</a:t>
            </a:r>
          </a:p>
          <a:p>
            <a:r>
              <a:rPr sz="1500"/>
              <a:t>Rainfed farming is most water-efficient in every season (8.85 -&gt; 6.87 -&gt; 5.48 t/1000m3)</a:t>
            </a:r>
          </a:p>
          <a:p>
            <a:r>
              <a:rPr sz="1500"/>
              <a:t>Flood irrigation stays least efficient across Kharif, Rabi and Zaid alike</a:t>
            </a:r>
          </a:p>
          <a:p>
            <a:r>
              <a:rPr sz="1500"/>
              <a:t>The irrigation ranking doesn't flip by season, but efficiency falls for every method into Zaid</a:t>
            </a:r>
          </a:p>
        </p:txBody>
      </p:sp>
      <p:pic>
        <p:nvPicPr>
          <p:cNvPr id="31" name="Picture 30" descr="14_cell56.png"/>
          <p:cNvPicPr>
            <a:picLocks noChangeAspect="1"/>
          </p:cNvPicPr>
          <p:nvPr/>
        </p:nvPicPr>
        <p:blipFill>
          <a:blip r:embed="rId3"/>
          <a:stretch>
            <a:fillRect/>
          </a:stretch>
        </p:blipFill>
        <p:spPr>
          <a:xfrm>
            <a:off x="7090227" y="1707287"/>
            <a:ext cx="4441372" cy="243214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60400" y="2044700"/>
            <a:ext cx="4275138" cy="3560763"/>
          </a:xfrm>
        </p:spPr>
        <p:txBody>
          <a:bodyPr wrap="square"/>
          <a:lstStyle/>
          <a:p>
            <a:r>
              <a:rPr sz="1500" b="1"/>
              <a:t>Disease/Pest Risk by State</a:t>
            </a:r>
          </a:p>
          <a:p>
            <a:r>
              <a:rPr sz="1500"/>
              <a:t>Risk is fairly uniform across all 8 states within a season (Kharif: 53.5-55.3%)</a:t>
            </a:r>
          </a:p>
          <a:p>
            <a:r>
              <a:rPr sz="1500"/>
              <a:t>Kharif carries the highest risk everywhere; Zaid the lowest and most variable (35.7-40.7%)</a:t>
            </a:r>
          </a:p>
          <a:p>
            <a:r>
              <a:rPr sz="1500"/>
              <a:t>The seasonal effect dominates over regional differences - a season-based advisory works nationwide</a:t>
            </a:r>
          </a:p>
        </p:txBody>
      </p:sp>
      <p:pic>
        <p:nvPicPr>
          <p:cNvPr id="31" name="Picture 30" descr="15_cell59.png"/>
          <p:cNvPicPr>
            <a:picLocks noChangeAspect="1"/>
          </p:cNvPicPr>
          <p:nvPr/>
        </p:nvPicPr>
        <p:blipFill>
          <a:blip r:embed="rId3"/>
          <a:stretch>
            <a:fillRect/>
          </a:stretch>
        </p:blipFill>
        <p:spPr>
          <a:xfrm>
            <a:off x="7090227" y="1707287"/>
            <a:ext cx="4441372" cy="339036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60399" y="1991360"/>
            <a:ext cx="10046070" cy="3990023"/>
          </a:xfrm>
        </p:spPr>
        <p:txBody>
          <a:bodyPr wrap="square">
            <a:normAutofit/>
          </a:bodyPr>
          <a:lstStyle/>
          <a:p>
            <a:r>
              <a:rPr sz="1800"/>
              <a:t>Extend the dataset to multiple years to confirm whether the yield result (not significant in this single-cycle sample) holds or changes with more data</a:t>
            </a:r>
          </a:p>
          <a:p>
            <a:r>
              <a:rPr sz="1800"/>
              <a:t>Bring in district-level market price data to explain Zaid's profit loss more precisely</a:t>
            </a:r>
          </a:p>
          <a:p>
            <a:r>
              <a:rPr sz="1800"/>
              <a:t>Add satellite/weather-station data for finer-grained rainfall and soil-moisture readings</a:t>
            </a:r>
          </a:p>
          <a:p>
            <a:r>
              <a:rPr sz="1800"/>
              <a:t>Build a season-aware advisory tool for irrigation-method selection using these findings</a:t>
            </a:r>
          </a:p>
          <a:p>
            <a:r>
              <a:rPr sz="1800"/>
              <a:t>Explore crop-specific seasonal models rather than one model across all crops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 https://github.com/Shamika2231/Seasonal-Agriculture-Performance-Analysis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ACC21CB9-6301-566C-3170-F663A2295029}"/>
              </a:ext>
            </a:extLst>
          </p:cNvPr>
          <p:cNvGraphicFramePr>
            <a:graphicFrameLocks noChangeAspect="1"/>
          </p:cNvGraphicFramePr>
          <p:nvPr>
            <p:extLst>
              <p:ext uri="{D42A27DB-BD31-4B8C-83A1-F6EECF244321}">
                <p14:modId xmlns:p14="http://schemas.microsoft.com/office/powerpoint/2010/main" val="780470828"/>
              </p:ext>
            </p:extLst>
          </p:nvPr>
        </p:nvGraphicFramePr>
        <p:xfrm>
          <a:off x="755780" y="1528698"/>
          <a:ext cx="9144000" cy="5058714"/>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bat.Document.DC">
                  <p:embed/>
                </p:oleObj>
              </mc:Choice>
              <mc:Fallback>
                <p:oleObj name="Acrobat Document" r:id="rId3" imgW="6415686" imgH="4533492" progId="Acrobat.Document.DC">
                  <p:embed/>
                  <p:pic>
                    <p:nvPicPr>
                      <p:cNvPr id="2" name="Object 1">
                        <a:extLst>
                          <a:ext uri="{FF2B5EF4-FFF2-40B4-BE49-F238E27FC236}">
                            <a16:creationId xmlns:a16="http://schemas.microsoft.com/office/drawing/2014/main" id="{ACC21CB9-6301-566C-3170-F663A2295029}"/>
                          </a:ext>
                        </a:extLst>
                      </p:cNvPr>
                      <p:cNvPicPr/>
                      <p:nvPr/>
                    </p:nvPicPr>
                    <p:blipFill>
                      <a:blip r:embed="rId4"/>
                      <a:stretch>
                        <a:fillRect/>
                      </a:stretch>
                    </p:blipFill>
                    <p:spPr>
                      <a:xfrm>
                        <a:off x="755780" y="1528698"/>
                        <a:ext cx="9144000" cy="5058714"/>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2075520"/>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1395</TotalTime>
  <Words>762</Words>
  <Application>Microsoft Office PowerPoint</Application>
  <PresentationFormat>Widescreen</PresentationFormat>
  <Paragraphs>81</Paragraphs>
  <Slides>18</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Trebuchet MS</vt:lpstr>
      <vt:lpstr>Wingdings</vt:lpstr>
      <vt:lpstr>Wingdings 3</vt:lpstr>
      <vt:lpstr>Facet</vt:lpstr>
      <vt:lpstr>Acrobat Document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Anirudha Prabhu</cp:lastModifiedBy>
  <cp:revision>98</cp:revision>
  <dcterms:created xsi:type="dcterms:W3CDTF">2021-07-11T13:13:15Z</dcterms:created>
  <dcterms:modified xsi:type="dcterms:W3CDTF">2026-09-09T16:24:42Z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